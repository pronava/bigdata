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8" r:id="rId4"/>
    <p:sldId id="266" r:id="rId5"/>
    <p:sldId id="268" r:id="rId6"/>
    <p:sldId id="270" r:id="rId7"/>
    <p:sldId id="271" r:id="rId8"/>
    <p:sldId id="278" r:id="rId9"/>
    <p:sldId id="272" r:id="rId10"/>
    <p:sldId id="273" r:id="rId11"/>
    <p:sldId id="274" r:id="rId12"/>
    <p:sldId id="275" r:id="rId13"/>
    <p:sldId id="277" r:id="rId14"/>
    <p:sldId id="279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83" autoAdjust="0"/>
  </p:normalViewPr>
  <p:slideViewPr>
    <p:cSldViewPr snapToGrid="0" showGuides="1">
      <p:cViewPr varScale="1">
        <p:scale>
          <a:sx n="54" d="100"/>
          <a:sy n="54" d="100"/>
        </p:scale>
        <p:origin x="65" y="351"/>
      </p:cViewPr>
      <p:guideLst>
        <p:guide orient="horz" pos="2251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3D4AC-BFB4-4F16-B2F2-8BAFF707FDCB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0449F-ECEB-4697-A4C8-467A1F42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76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客户流失会直接影响收入，而且留住老客户比获取新客户成本更低。本项目主要解决两个问题：谁会流失，以及为什么流失。基于此，我们建立预测模型，并提出可执行的运营策略。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47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数据规模（</a:t>
            </a:r>
            <a:r>
              <a:rPr lang="en-US" altLang="zh-CN" dirty="0"/>
              <a:t>7000+</a:t>
            </a:r>
            <a:r>
              <a:rPr lang="zh-CN" altLang="en-US" dirty="0"/>
              <a:t>） 特征类型（分类 </a:t>
            </a:r>
            <a:r>
              <a:rPr lang="en-US" altLang="zh-CN" dirty="0"/>
              <a:t>+ </a:t>
            </a:r>
            <a:r>
              <a:rPr lang="zh-CN" altLang="en-US" dirty="0"/>
              <a:t>数值） 预测目标（</a:t>
            </a:r>
            <a:r>
              <a:rPr lang="en-US" altLang="zh-CN" dirty="0"/>
              <a:t>Churn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286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在数据预处理阶段，首先对数据进行了清洗，包括将</a:t>
            </a:r>
            <a:r>
              <a:rPr lang="en-US" altLang="zh-CN" dirty="0" err="1"/>
              <a:t>TotalCharges</a:t>
            </a:r>
            <a:r>
              <a:rPr lang="zh-CN" altLang="en-US" dirty="0"/>
              <a:t>转换为数值类型，并用中位数填补缺失值。</a:t>
            </a:r>
            <a:br>
              <a:rPr lang="zh-CN" altLang="en-US" dirty="0"/>
            </a:br>
            <a:r>
              <a:rPr lang="zh-CN" altLang="en-US" dirty="0"/>
              <a:t>接着对分类变量进行了编码，并对数值变量做了标准化处理。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247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通过卡方检验可以发现，大多数分类变量与客户流失存在显著关系，</a:t>
            </a:r>
            <a:r>
              <a:rPr lang="en-US" altLang="zh-CN" dirty="0"/>
              <a:t>p</a:t>
            </a:r>
            <a:r>
              <a:rPr lang="zh-CN" altLang="en-US" dirty="0"/>
              <a:t>值均小于</a:t>
            </a:r>
            <a:r>
              <a:rPr lang="en-US" altLang="zh-CN" dirty="0"/>
              <a:t>0.05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其中合同类型表现出最明显的差异，其次是网络安全、技术支持等增值服务变量。</a:t>
            </a:r>
            <a:br>
              <a:rPr lang="zh-CN" altLang="en-US" dirty="0"/>
            </a:br>
            <a:r>
              <a:rPr lang="zh-CN" altLang="en-US" dirty="0"/>
              <a:t>整体来看，客户是否具备长期服务绑定，是影响流失的重要因素之一。</a:t>
            </a:r>
          </a:p>
          <a:p>
            <a:endParaRPr lang="zh-CN" altLang="en-US" dirty="0"/>
          </a:p>
          <a:p>
            <a:r>
              <a:rPr lang="zh-CN" altLang="en-US" dirty="0"/>
              <a:t>在此基础上，通过交叉分析进一步观察不同类别下的流失比例差异。</a:t>
            </a:r>
            <a:br>
              <a:rPr lang="zh-CN" altLang="en-US" dirty="0"/>
            </a:br>
            <a:r>
              <a:rPr lang="zh-CN" altLang="en-US" dirty="0"/>
              <a:t>结果显示，按月付费的客户流失率明显高于长期合约用户。</a:t>
            </a:r>
            <a:br>
              <a:rPr lang="zh-CN" altLang="en-US" dirty="0"/>
            </a:br>
            <a:r>
              <a:rPr lang="zh-CN" altLang="en-US" dirty="0"/>
              <a:t>在网络服务方面，使用光纤宽带的用户流失比例更高。</a:t>
            </a:r>
            <a:br>
              <a:rPr lang="zh-CN" altLang="en-US" dirty="0"/>
            </a:br>
            <a:r>
              <a:rPr lang="zh-CN" altLang="en-US" dirty="0"/>
              <a:t>同时，没有开通网络安全和技术支持等服务的客户，其流失倾向也更明显。</a:t>
            </a:r>
            <a:br>
              <a:rPr lang="zh-CN" altLang="en-US" dirty="0"/>
            </a:br>
            <a:r>
              <a:rPr lang="zh-CN" altLang="en-US" dirty="0"/>
              <a:t>此外，使用电子支票支付的客户流失率相对更高。</a:t>
            </a:r>
          </a:p>
          <a:p>
            <a:endParaRPr lang="zh-CN" altLang="en-US" dirty="0"/>
          </a:p>
          <a:p>
            <a:r>
              <a:rPr lang="zh-CN" altLang="en-US" dirty="0"/>
              <a:t>综合来看，客户的服务绑定程度越低，其流失风险越高。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57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对连续变量，我们尝试使用</a:t>
            </a:r>
            <a:r>
              <a:rPr lang="en-US" altLang="zh-CN" dirty="0"/>
              <a:t>ANOVA</a:t>
            </a:r>
            <a:r>
              <a:rPr lang="zh-CN" altLang="en-US" dirty="0"/>
              <a:t>分析不同流失群体之间的均值差异。</a:t>
            </a:r>
            <a:br>
              <a:rPr lang="zh-CN" altLang="en-US" dirty="0"/>
            </a:br>
            <a:r>
              <a:rPr lang="zh-CN" altLang="en-US" dirty="0"/>
              <a:t>但在进行</a:t>
            </a:r>
            <a:r>
              <a:rPr lang="en-US" altLang="zh-CN" dirty="0"/>
              <a:t>Levene</a:t>
            </a:r>
            <a:r>
              <a:rPr lang="zh-CN" altLang="en-US" dirty="0"/>
              <a:t>方差齐性检验后发现，数据不满足方差齐性假设，因此</a:t>
            </a:r>
            <a:r>
              <a:rPr lang="en-US" altLang="zh-CN" dirty="0"/>
              <a:t>ANOVA</a:t>
            </a:r>
            <a:r>
              <a:rPr lang="zh-CN" altLang="en-US" dirty="0"/>
              <a:t>不适用。</a:t>
            </a:r>
            <a:br>
              <a:rPr lang="zh-CN" altLang="en-US" dirty="0"/>
            </a:br>
            <a:r>
              <a:rPr lang="zh-CN" altLang="en-US" dirty="0"/>
              <a:t>因此，这些连续变量更适合在机器学习模型中进行综合评估，而不是单独进行均值比较。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卡方检验是基于分箱后的分类数据，而 </a:t>
            </a:r>
            <a:r>
              <a:rPr lang="en-US" altLang="zh-CN" dirty="0"/>
              <a:t>ANOVA </a:t>
            </a:r>
            <a:r>
              <a:rPr lang="zh-CN" altLang="en-US" dirty="0"/>
              <a:t>是直接针对连续变量做均值比较。</a:t>
            </a:r>
            <a:br>
              <a:rPr lang="zh-CN" altLang="en-US" dirty="0"/>
            </a:br>
            <a:r>
              <a:rPr lang="zh-CN" altLang="en-US" dirty="0"/>
              <a:t>由于分箱会损失信息，所以我们尝试用 </a:t>
            </a:r>
            <a:r>
              <a:rPr lang="en-US" altLang="zh-CN" dirty="0"/>
              <a:t>ANOVA </a:t>
            </a:r>
            <a:r>
              <a:rPr lang="zh-CN" altLang="en-US" dirty="0"/>
              <a:t>做更精细的分析。</a:t>
            </a:r>
            <a:br>
              <a:rPr lang="zh-CN" altLang="en-US" dirty="0"/>
            </a:br>
            <a:r>
              <a:rPr lang="zh-CN" altLang="en-US" dirty="0"/>
              <a:t>但因为不满足方差齐性条件，</a:t>
            </a:r>
            <a:r>
              <a:rPr lang="en-US" altLang="zh-CN" dirty="0"/>
              <a:t>ANOVA </a:t>
            </a:r>
            <a:r>
              <a:rPr lang="zh-CN" altLang="en-US" dirty="0"/>
              <a:t>不适用，</a:t>
            </a:r>
            <a:br>
              <a:rPr lang="zh-CN" altLang="en-US" dirty="0"/>
            </a:br>
            <a:r>
              <a:rPr lang="zh-CN" altLang="en-US" dirty="0"/>
              <a:t>所以最终采用机器学习模型来评估这些变量的影响。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971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在特征工程阶段，对数值变量进行标准化，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039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对分类变量进行编码，使数据适配模型输入。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869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在建模过程中，我们采用分层抽样划分训练集和测试集，并仅在训练集上使用</a:t>
            </a:r>
            <a:r>
              <a:rPr lang="en-US" altLang="zh-CN" dirty="0"/>
              <a:t>SMOTE</a:t>
            </a:r>
            <a:r>
              <a:rPr lang="zh-CN" altLang="en-US" dirty="0"/>
              <a:t>处理样本不平衡，避免数据泄露。</a:t>
            </a:r>
            <a:br>
              <a:rPr lang="zh-CN" altLang="en-US" dirty="0"/>
            </a:br>
            <a:r>
              <a:rPr lang="zh-CN" altLang="en-US" dirty="0"/>
              <a:t>模型对比结果显示，</a:t>
            </a:r>
            <a:r>
              <a:rPr lang="en-US" altLang="zh-CN" dirty="0"/>
              <a:t>Boosting</a:t>
            </a:r>
            <a:r>
              <a:rPr lang="zh-CN" altLang="en-US" dirty="0"/>
              <a:t>类模型整体表现最好，传统模型表现中等，而单一决策树模型效果较弱。</a:t>
            </a:r>
            <a:br>
              <a:rPr lang="zh-CN" altLang="en-US" dirty="0"/>
            </a:br>
            <a:r>
              <a:rPr lang="en-US" altLang="zh-CN" dirty="0"/>
              <a:t>#</a:t>
            </a:r>
            <a:r>
              <a:rPr lang="zh-CN" altLang="en-US" dirty="0"/>
              <a:t>因此最终选择集成模型作为主要建模方法。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008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zh-CN" altLang="en-US" dirty="0"/>
              <a:t>在特征重要性分析中，我们不仅使用单一模型，而是结合逻辑回归、朴素贝叶斯和</a:t>
            </a:r>
            <a:r>
              <a:rPr lang="en-US" altLang="zh-CN" dirty="0"/>
              <a:t>GBDT</a:t>
            </a:r>
            <a:r>
              <a:rPr lang="zh-CN" altLang="en-US" dirty="0"/>
              <a:t>三种模型的结果进行排名融合。</a:t>
            </a:r>
            <a:br>
              <a:rPr lang="zh-CN" altLang="en-US" dirty="0"/>
            </a:br>
            <a:r>
              <a:rPr lang="zh-CN" altLang="en-US" dirty="0"/>
              <a:t>通过取平均排名，得到最终特征排序。</a:t>
            </a:r>
            <a:br>
              <a:rPr lang="zh-CN" altLang="en-US" dirty="0"/>
            </a:br>
            <a:r>
              <a:rPr lang="zh-CN" altLang="en-US" dirty="0"/>
              <a:t>结果显示，</a:t>
            </a:r>
            <a:r>
              <a:rPr lang="en-US" altLang="zh-CN" dirty="0"/>
              <a:t>tenure</a:t>
            </a:r>
            <a:r>
              <a:rPr lang="zh-CN" altLang="en-US" dirty="0"/>
              <a:t>、合同类型和总费用在不同模型中均表现稳定，是最可靠的流失预测因素。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215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PCA</a:t>
            </a:r>
            <a:r>
              <a:rPr lang="zh-CN" altLang="en-US" dirty="0"/>
              <a:t>和</a:t>
            </a:r>
            <a:r>
              <a:rPr lang="en-US" altLang="zh-CN" dirty="0"/>
              <a:t>t-SNE</a:t>
            </a:r>
            <a:r>
              <a:rPr lang="zh-CN" altLang="en-US" dirty="0"/>
              <a:t>可视化结果来看，客户数据并不是天然分离的类别，而是呈现连续分布结构。</a:t>
            </a:r>
            <a:br>
              <a:rPr lang="zh-CN" altLang="en-US" dirty="0"/>
            </a:br>
            <a:r>
              <a:rPr lang="en-US" altLang="zh-CN" dirty="0" err="1"/>
              <a:t>Kmeans</a:t>
            </a:r>
            <a:r>
              <a:rPr lang="zh-CN" altLang="en-US" dirty="0"/>
              <a:t>可以将这种连续空间划分为不同的运营人群，用于差异化营销，而不是发现完全独立的群体。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22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最后，不同群体的流失风险差异明显，高风险群体主要集中在短合约、高费用用户，而长期合约用户较为稳定。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035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综合前面的统计分析、机器学习模型以及用户聚类结果，我们可以得到一个比较一致的结论：客户流失并不是随机发生的，而是由一组稳定的行为模式驱动的。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驱动因素来看，最核心的变量包括合同类型、客户使用时长以及月消费金额。其中，短期合约、低使用时长以及高费用客户，是最容易发生流失的群体。这些因素在统计检验、特征重要性以及不同用户群体中都表现出一致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在此基础上，我们进一步通过聚类将客户划分为不同风险等级的群体。可以看到，高风险群体主要集中在短期用户和按月付费用户，而长期合约和高粘性服务用户则表现出较低的流失率。</a:t>
            </a:r>
          </a:p>
          <a:p>
            <a:endParaRPr lang="zh-CN" altLang="en-US" dirty="0"/>
          </a:p>
          <a:p>
            <a:r>
              <a:rPr lang="zh-CN" altLang="en-US" dirty="0"/>
              <a:t>因此，在业务策略上，我们可以采取分层运营的方式：</a:t>
            </a:r>
            <a:br>
              <a:rPr lang="zh-CN" altLang="en-US" dirty="0"/>
            </a:br>
            <a:r>
              <a:rPr lang="zh-CN" altLang="en-US" dirty="0"/>
              <a:t>对于高风险客户，重点通过优惠和合约升级进行挽留；</a:t>
            </a:r>
            <a:br>
              <a:rPr lang="zh-CN" altLang="en-US" dirty="0"/>
            </a:br>
            <a:r>
              <a:rPr lang="zh-CN" altLang="en-US" dirty="0"/>
              <a:t>对于中等风险客户，通过提升服务使用率增强粘性；</a:t>
            </a:r>
            <a:br>
              <a:rPr lang="zh-CN" altLang="en-US" dirty="0"/>
            </a:br>
            <a:r>
              <a:rPr lang="zh-CN" altLang="en-US" dirty="0"/>
              <a:t>对于低风险客户，则侧重于提升客户生命周期价值，例如交叉销售和忠诚度计划。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12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19D2-F01D-8385-3D93-82CBB5AC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F60998-E2C4-3A2C-EF5C-A569AE1B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E6C6EF-D9BC-1FE6-C4EE-2A7641A15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虽然当前模型已经具备较好的性能和解释性，但仍有进一步优化空间。</a:t>
            </a:r>
          </a:p>
          <a:p>
            <a:r>
              <a:rPr lang="zh-CN" altLang="en-US" dirty="0"/>
              <a:t>首先，可以通过集成学习方法，比如</a:t>
            </a:r>
            <a:r>
              <a:rPr lang="en-US" altLang="zh-CN" dirty="0"/>
              <a:t>Stacking</a:t>
            </a:r>
            <a:r>
              <a:rPr lang="zh-CN" altLang="en-US" dirty="0"/>
              <a:t>或</a:t>
            </a:r>
            <a:r>
              <a:rPr lang="en-US" altLang="zh-CN" dirty="0"/>
              <a:t>Voting</a:t>
            </a:r>
            <a:r>
              <a:rPr lang="zh-CN" altLang="en-US" dirty="0"/>
              <a:t>，提升模型整体稳定性和效果。</a:t>
            </a:r>
          </a:p>
          <a:p>
            <a:r>
              <a:rPr lang="zh-CN" altLang="en-US" dirty="0"/>
              <a:t>其次，可以通过调整分类阈值，在召回率和精确率之间做更符合业务目标的权衡。</a:t>
            </a:r>
          </a:p>
          <a:p>
            <a:r>
              <a:rPr lang="zh-CN" altLang="en-US" dirty="0"/>
              <a:t>第三，引入</a:t>
            </a:r>
            <a:r>
              <a:rPr lang="en-US" altLang="zh-CN" dirty="0"/>
              <a:t>SHAP</a:t>
            </a:r>
            <a:r>
              <a:rPr lang="zh-CN" altLang="en-US" dirty="0"/>
              <a:t>方法，可以进一步提升特征解释的稳定性和一致性。</a:t>
            </a:r>
          </a:p>
          <a:p>
            <a:r>
              <a:rPr lang="zh-CN" altLang="en-US" dirty="0"/>
              <a:t>最后，如果加入时间维度的特征，可以更好地刻画客户行为的动态变化，从而提升预测能力。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现实世界不是混乱的，而是可以被“结构化理解”的，上帝不掷色子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73FE8-B9AC-AB4C-4027-2B094714C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10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0449F-ECEB-4697-A4C8-467A1F427AD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590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D8268-AE44-AE49-B332-ADC8A3CEA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557F5F-B619-50AA-DCE9-9F1542969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77840-17D4-EE3D-3C3F-405B6CEE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F5745-1E09-9671-68A1-A7120B1C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4FCC9-EA1C-B798-C820-71020C75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79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6B851-1B83-1F3E-AF2B-C188FC9F9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376240-FB9B-0A54-5A90-0762AE08F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9D414-F7C9-2B9E-47DA-F615BFD3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D3B7C-454E-90E0-25C1-4AC156D2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EA70B-CD4C-25AE-8FA5-ACC930BE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4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A024F-7482-BBFC-64DF-DD4EF535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3444A-BD6C-FAB5-7AA5-B03BFC6C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0A9EE-6629-CF93-86AD-F05C7F31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BEC66-1786-5771-84EB-325CE7FF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481FA-CCF7-4360-A608-2F137542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77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18B77-1FCA-E3DB-9255-0C9F3725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25589-710F-EE5E-E957-ED46D9C0A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5F225E-B032-D66F-51AC-6826735E9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5D7CA2-6162-0C1F-AEC6-93E14A45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4DC8BB-37A2-FE6D-9C69-981DACFD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EE2F63-7383-151B-7426-F619F8B8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78A06-B605-F0B2-1B8B-61DF734E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AC985-070C-4033-59E2-FB8A7F65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FEE384-D177-08DA-4A5A-D5B092ACB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612615-C19C-FA23-1B59-11D06E1C0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69E91A-0174-7D6B-964B-2AD18FACC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0349CE-9F8E-6995-5E8D-1AF93A6C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4343D8-A8C7-3A63-346D-BE02FD67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587F26-7B62-453A-B400-0B1D3F2E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00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F9CCA-ACF5-0376-B359-BA9323E2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21B27E-C8F3-10E0-C66F-77BD24C3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F2DE61-802F-CC5F-FF25-1A87B5E1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F50E2-0619-451C-0120-A9F0CC48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23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542187-3F67-D0E8-047F-ED64660F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068366-7E1B-1402-B603-F84B82DD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95B766-3EED-49B2-EC3F-AACB248B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34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3D4D1-DD21-06F7-7C73-CBD5CC1F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6B970-06EE-278A-3206-CFC6231C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9506C1-A3DE-4F00-89A2-7A55950F0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543229-F9DD-07B5-2791-A59D19B4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0072E2-0EBF-8D6E-45DC-3BF98EB9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0875FC-E384-95E1-F83B-3CC3DB48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3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D16C9-8479-0E28-FABF-538C240A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E3466D-30AD-304A-4D48-A5A103044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0D01B2-8B8F-6AC9-B282-0220A30FB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2D5811-7C57-B211-F378-CC5E1A58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8EE0B0-81A7-3D59-8FC2-88E65764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240627-C894-FF6F-7169-3924DD5C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99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F91EB-E48B-E010-E511-6A130841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C36CA6-BFCE-0F2F-02AF-6CDDDBA0A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8832D-B18F-B865-DACF-69D694DA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057331-1FDF-4195-8DDC-D17E831B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CAECB3-B65B-FB29-E9A3-CCA09D29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32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137BD5-0319-4E47-670F-8DCEA26E8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11229B-71CD-A983-E824-B42813BF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2E4F9-0840-0F9A-DD7A-AFA5D9BE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4BD06-1652-ED37-DAC8-62BA0844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19A2E-B5C6-EA90-A953-FA051602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5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825466-42DD-3267-868E-5C1E8D9D7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6C87CC-C7F8-52D9-1E84-D01E20DB3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8A970D-4257-1588-0DF6-8982E8CA8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887B5-D5E8-4039-82E8-7779B8FEDF03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C86B05-EE4C-282E-7682-1194766DE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1E58BD-D56F-62C3-6B81-3EA5DC887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8710B-3151-49AA-A006-C1955B12E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8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blastchar/telco-customer-churn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DCFBB80-744D-1B07-BEFC-A000ADD5F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A965B5D-DC55-2FBD-5A91-FD1D7CFF6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Telco Customer Churn</a:t>
            </a:r>
            <a:b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C2455B-EC47-9AAC-FA21-FA5BBD83C924}"/>
              </a:ext>
            </a:extLst>
          </p:cNvPr>
          <p:cNvSpPr txBox="1"/>
          <p:nvPr/>
        </p:nvSpPr>
        <p:spPr>
          <a:xfrm>
            <a:off x="4844823" y="3429000"/>
            <a:ext cx="2502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Shijie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0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9EDE-DE5D-A30E-089E-A50C955B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A3F4011-1BB9-5B26-CCED-56A0CD54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FDF14F-4C6E-9D56-035E-B523622BB16C}"/>
              </a:ext>
            </a:extLst>
          </p:cNvPr>
          <p:cNvSpPr txBox="1"/>
          <p:nvPr/>
        </p:nvSpPr>
        <p:spPr>
          <a:xfrm>
            <a:off x="298741" y="824042"/>
            <a:ext cx="6098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ntro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1DADFD-7F75-792D-B5F2-CDDB50391D44}"/>
              </a:ext>
            </a:extLst>
          </p:cNvPr>
          <p:cNvSpPr txBox="1"/>
          <p:nvPr/>
        </p:nvSpPr>
        <p:spPr>
          <a:xfrm>
            <a:off x="7027344" y="1862251"/>
            <a:ext cx="48659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/ Business Understanding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Understanding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Cleaning &amp; Preprocessing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Statistical Analysis &amp; Insights  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Feature Engineering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Modeling &amp; Comparison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Feature Importance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Customer Profiling / Segmentation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Final Conclusion &amp; Strategy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Future Work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470DC-B41A-F4B3-8C76-9743FD6ABBC9}"/>
              </a:ext>
            </a:extLst>
          </p:cNvPr>
          <p:cNvSpPr txBox="1"/>
          <p:nvPr/>
        </p:nvSpPr>
        <p:spPr>
          <a:xfrm>
            <a:off x="298742" y="4447574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churn prediction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strategies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BC1CBB-4739-A5E9-E6BF-B45B8AEEDC3A}"/>
              </a:ext>
            </a:extLst>
          </p:cNvPr>
          <p:cNvSpPr txBox="1"/>
          <p:nvPr/>
        </p:nvSpPr>
        <p:spPr>
          <a:xfrm>
            <a:off x="298742" y="1862251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 major challenge in telecom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Retaining customers is more cost-effective than acquiring new ones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911FCA-979D-C181-AD5B-0D19DE0FE046}"/>
              </a:ext>
            </a:extLst>
          </p:cNvPr>
          <p:cNvSpPr txBox="1"/>
          <p:nvPr/>
        </p:nvSpPr>
        <p:spPr>
          <a:xfrm>
            <a:off x="298741" y="3154912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customers are likely to churn?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drive churn?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reduce churn?</a:t>
            </a:r>
          </a:p>
        </p:txBody>
      </p:sp>
    </p:spTree>
    <p:extLst>
      <p:ext uri="{BB962C8B-B14F-4D97-AF65-F5344CB8AC3E}">
        <p14:creationId xmlns:p14="http://schemas.microsoft.com/office/powerpoint/2010/main" val="361118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2EE6-73FF-879D-81FB-241D1607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1AB70A-EDD8-583D-884B-129BDAF0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69DF26C-8DD6-7AA1-E24C-CC4C44029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14450"/>
              </p:ext>
            </p:extLst>
          </p:nvPr>
        </p:nvGraphicFramePr>
        <p:xfrm>
          <a:off x="269112" y="4131129"/>
          <a:ext cx="11653776" cy="2253925"/>
        </p:xfrm>
        <a:graphic>
          <a:graphicData uri="http://schemas.openxmlformats.org/drawingml/2006/table">
            <a:tbl>
              <a:tblPr/>
              <a:tblGrid>
                <a:gridCol w="554941">
                  <a:extLst>
                    <a:ext uri="{9D8B030D-6E8A-4147-A177-3AD203B41FA5}">
                      <a16:colId xmlns:a16="http://schemas.microsoft.com/office/drawing/2014/main" val="3245075343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67381127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2170080724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4192931427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1846577162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2172234038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629104927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1745502417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1146930158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3935424658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4015015794"/>
                    </a:ext>
                  </a:extLst>
                </a:gridCol>
                <a:gridCol w="615487">
                  <a:extLst>
                    <a:ext uri="{9D8B030D-6E8A-4147-A177-3AD203B41FA5}">
                      <a16:colId xmlns:a16="http://schemas.microsoft.com/office/drawing/2014/main" val="1981576336"/>
                    </a:ext>
                  </a:extLst>
                </a:gridCol>
                <a:gridCol w="494401">
                  <a:extLst>
                    <a:ext uri="{9D8B030D-6E8A-4147-A177-3AD203B41FA5}">
                      <a16:colId xmlns:a16="http://schemas.microsoft.com/office/drawing/2014/main" val="1471836979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4231759797"/>
                    </a:ext>
                  </a:extLst>
                </a:gridCol>
                <a:gridCol w="635665">
                  <a:extLst>
                    <a:ext uri="{9D8B030D-6E8A-4147-A177-3AD203B41FA5}">
                      <a16:colId xmlns:a16="http://schemas.microsoft.com/office/drawing/2014/main" val="2114575055"/>
                    </a:ext>
                  </a:extLst>
                </a:gridCol>
                <a:gridCol w="474220">
                  <a:extLst>
                    <a:ext uri="{9D8B030D-6E8A-4147-A177-3AD203B41FA5}">
                      <a16:colId xmlns:a16="http://schemas.microsoft.com/office/drawing/2014/main" val="3923642564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3646122131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834109545"/>
                    </a:ext>
                  </a:extLst>
                </a:gridCol>
                <a:gridCol w="625578">
                  <a:extLst>
                    <a:ext uri="{9D8B030D-6E8A-4147-A177-3AD203B41FA5}">
                      <a16:colId xmlns:a16="http://schemas.microsoft.com/office/drawing/2014/main" val="3563299541"/>
                    </a:ext>
                  </a:extLst>
                </a:gridCol>
                <a:gridCol w="484310">
                  <a:extLst>
                    <a:ext uri="{9D8B030D-6E8A-4147-A177-3AD203B41FA5}">
                      <a16:colId xmlns:a16="http://schemas.microsoft.com/office/drawing/2014/main" val="515507906"/>
                    </a:ext>
                  </a:extLst>
                </a:gridCol>
                <a:gridCol w="554941">
                  <a:extLst>
                    <a:ext uri="{9D8B030D-6E8A-4147-A177-3AD203B41FA5}">
                      <a16:colId xmlns:a16="http://schemas.microsoft.com/office/drawing/2014/main" val="1080575153"/>
                    </a:ext>
                  </a:extLst>
                </a:gridCol>
              </a:tblGrid>
              <a:tr h="4059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customerID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gender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SeniorCitizen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Partner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Dependents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tenure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PhoneService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MultipleLines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InternetService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OnlineSecurity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OnlineBackup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DeviceProtection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TechSupport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StreamingTV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StreamingMovies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Contract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PaperlessBilling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PaymentMethod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MonthlyCharges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TotalCharges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Churn</a:t>
                      </a:r>
                      <a:endParaRPr lang="fr-FR" sz="6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59600"/>
                  </a:ext>
                </a:extLst>
              </a:tr>
              <a:tr h="4059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7590-VHVEG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Female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 phone service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DSL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Month-to-month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Electronic check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29.85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29.85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162873"/>
                  </a:ext>
                </a:extLst>
              </a:tr>
              <a:tr h="2180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5575-GNVDE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DSL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One year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Mailed check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56.95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1889.5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925559"/>
                  </a:ext>
                </a:extLst>
              </a:tr>
              <a:tr h="4059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3668-QPYBK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DSL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Month-to-month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Mailed check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53.85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108.15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40956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7795-CFOCW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 phone service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DSL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One year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Bank transfer (automatic)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42.3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1840.75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241442"/>
                  </a:ext>
                </a:extLst>
              </a:tr>
              <a:tr h="4059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9237-HQITU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Female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Fiber optic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Month-to-month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Electronic check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70.7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151.65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6270" marR="6270" marT="62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378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C208304-FC0B-1587-DFFE-8B284E242209}"/>
              </a:ext>
            </a:extLst>
          </p:cNvPr>
          <p:cNvSpPr txBox="1"/>
          <p:nvPr/>
        </p:nvSpPr>
        <p:spPr>
          <a:xfrm>
            <a:off x="34772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59F20A-05A2-9152-52A9-18AA687B4AD4}"/>
              </a:ext>
            </a:extLst>
          </p:cNvPr>
          <p:cNvSpPr txBox="1"/>
          <p:nvPr/>
        </p:nvSpPr>
        <p:spPr>
          <a:xfrm>
            <a:off x="347728" y="1032693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customer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~7,000 customers, 20+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data types: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(Yes/No)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F57C05-8E24-82B1-EA75-D86348B1C927}"/>
              </a:ext>
            </a:extLst>
          </p:cNvPr>
          <p:cNvSpPr txBox="1"/>
          <p:nvPr/>
        </p:nvSpPr>
        <p:spPr>
          <a:xfrm>
            <a:off x="5011821" y="1730471"/>
            <a:ext cx="6911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SeniorCitizen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Partner,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PaperlessBilling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&amp; Charges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tenure,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FF57C1-76FA-5CC4-F256-1B0F2E3C0368}"/>
              </a:ext>
            </a:extLst>
          </p:cNvPr>
          <p:cNvSpPr txBox="1"/>
          <p:nvPr/>
        </p:nvSpPr>
        <p:spPr>
          <a:xfrm>
            <a:off x="293299" y="2746134"/>
            <a:ext cx="4158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= 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left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= 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retained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A434CF-6BBE-51C8-99E6-D8D706044752}"/>
              </a:ext>
            </a:extLst>
          </p:cNvPr>
          <p:cNvSpPr txBox="1"/>
          <p:nvPr/>
        </p:nvSpPr>
        <p:spPr>
          <a:xfrm>
            <a:off x="269112" y="6402559"/>
            <a:ext cx="8834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https://www.kaggle.com/datasets/blastchar/telco-customer-churn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2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8607-3C2F-71C8-056A-B3CC1CCB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F7ED6D8-A191-590A-7693-A7B1BF40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C7F9D96-5510-9AA4-8AB9-C08B3AF54E19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2C827A-9083-0FF9-D3BE-C9DC02241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582" y="1298198"/>
            <a:ext cx="6382424" cy="49050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2A9FA1C-0438-A52C-B7AB-79CA871EA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582" y="6266708"/>
            <a:ext cx="6449325" cy="2762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C7EFCCF-BEFA-5A70-B9CB-977C73480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38" y="4109433"/>
            <a:ext cx="5082799" cy="24335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C219CF-4E46-ED25-2131-F0D30AD75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034" y="3843368"/>
            <a:ext cx="5163271" cy="2000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07E868-ED8A-3363-932A-1B577EAF95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994" y="3335498"/>
            <a:ext cx="5049349" cy="2674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E1E0C71-01DD-588F-80EF-C2138BA765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9212" y="970124"/>
            <a:ext cx="2188979" cy="18934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77A8C19-7A0A-F6BF-D1EF-8EE7D91B97FA}"/>
              </a:ext>
            </a:extLst>
          </p:cNvPr>
          <p:cNvSpPr txBox="1"/>
          <p:nvPr/>
        </p:nvSpPr>
        <p:spPr>
          <a:xfrm>
            <a:off x="261936" y="924818"/>
            <a:ext cx="35072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(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imputation)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duplicates &amp;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01767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E898-4F4E-4520-0AB3-6AF95D48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0AF8D83-56D0-16C7-E19C-1A9FC7F1C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C4D8B81-4C0A-EF5E-3E8C-8AED9BE0BC72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8146CA-F57F-209C-1CAD-67091FAE9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38" y="2286043"/>
            <a:ext cx="4700790" cy="12874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8FBD25-4A89-8377-B78A-F099293DC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302" y="521705"/>
            <a:ext cx="5832760" cy="30517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6494A2C-495A-95B9-814F-0730B02CF87A}"/>
              </a:ext>
            </a:extLst>
          </p:cNvPr>
          <p:cNvSpPr txBox="1"/>
          <p:nvPr/>
        </p:nvSpPr>
        <p:spPr>
          <a:xfrm>
            <a:off x="329938" y="1000987"/>
            <a:ext cx="4700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categorical variables show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churn (p &lt; 0.05)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Exception: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significant)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371B26-11FB-1B29-0885-4FFA0AB7B61F}"/>
              </a:ext>
            </a:extLst>
          </p:cNvPr>
          <p:cNvSpPr txBox="1"/>
          <p:nvPr/>
        </p:nvSpPr>
        <p:spPr>
          <a:xfrm>
            <a:off x="329938" y="3735191"/>
            <a:ext cx="4009306" cy="37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Crosstab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E2B083-0D18-44DB-D90D-4F1B35AA9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95504"/>
            <a:ext cx="12192000" cy="27624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239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587C-B2CE-80F2-EAE9-30E934DA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1F2F3D7-24E3-02A2-83D7-3BFBBC80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D060524-D588-9458-7296-54DB8105AC13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Tests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CEEE54-4848-8BFD-863F-BB6D26F3B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344" y="1039871"/>
            <a:ext cx="7400102" cy="31762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35E74B-5219-AC01-46D8-988EC9189E2A}"/>
              </a:ext>
            </a:extLst>
          </p:cNvPr>
          <p:cNvSpPr txBox="1"/>
          <p:nvPr/>
        </p:nvSpPr>
        <p:spPr>
          <a:xfrm>
            <a:off x="482554" y="1907838"/>
            <a:ext cx="29820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Test </a:t>
            </a:r>
          </a:p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Levene’s test used to check variance homogeneity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is not homogeneous (p &lt; 0.05)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D24FE7-66F9-A48E-CA0B-2A8A46F62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345" y="4571673"/>
            <a:ext cx="7400102" cy="1288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35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14A7-992F-2FD0-5C36-456C6919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A928BA4-CD45-CB6F-73D6-6D773032D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48BA774-07B4-51C7-2967-0E26C1DC6192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4EBC36-8454-B9E2-2C45-8654E9581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36" y="3259227"/>
            <a:ext cx="5172791" cy="14545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894515-3A5F-3826-C4A5-F55CB205B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099" y="3035204"/>
            <a:ext cx="3388929" cy="1678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5C5B3BD-4D4E-3B94-5511-49DE133270F1}"/>
              </a:ext>
            </a:extLst>
          </p:cNvPr>
          <p:cNvSpPr txBox="1"/>
          <p:nvPr/>
        </p:nvSpPr>
        <p:spPr>
          <a:xfrm>
            <a:off x="329938" y="1435239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numerical features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(tenure,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53E6F15-6BE6-59F6-35C2-AB9CF7F2C216}"/>
              </a:ext>
            </a:extLst>
          </p:cNvPr>
          <p:cNvSpPr/>
          <p:nvPr/>
        </p:nvSpPr>
        <p:spPr>
          <a:xfrm rot="5400000">
            <a:off x="5931189" y="3240294"/>
            <a:ext cx="635447" cy="1492372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DBCDE2-0A27-842A-DABA-CBEE20249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2726" y="1359789"/>
            <a:ext cx="4881302" cy="10097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985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D737-0564-3532-6C73-8384AF5D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DDCA61-B88C-4A30-C1DD-B88120E7B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18FE918-8BC4-DF43-EF58-65349196AF5B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6FFA54-8E14-145B-8350-6E85CA47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15" y="2261685"/>
            <a:ext cx="3521328" cy="3195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E19554-6341-214A-6F4B-DF263B27C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005" y="1360477"/>
            <a:ext cx="3256826" cy="47461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7A37FCB-C210-E74B-F6AB-5DFD344C1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3593" y="1170988"/>
            <a:ext cx="3277057" cy="51251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D93442-393C-8C08-9169-EDB0DA33335B}"/>
              </a:ext>
            </a:extLst>
          </p:cNvPr>
          <p:cNvSpPr txBox="1"/>
          <p:nvPr/>
        </p:nvSpPr>
        <p:spPr>
          <a:xfrm>
            <a:off x="329938" y="1226801"/>
            <a:ext cx="3409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</a:t>
            </a:r>
          </a:p>
          <a:p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(Label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箭头: 上 1">
            <a:extLst>
              <a:ext uri="{FF2B5EF4-FFF2-40B4-BE49-F238E27FC236}">
                <a16:creationId xmlns:a16="http://schemas.microsoft.com/office/drawing/2014/main" id="{49072D90-0496-E9D1-F4AA-DF9CCF05A46B}"/>
              </a:ext>
            </a:extLst>
          </p:cNvPr>
          <p:cNvSpPr/>
          <p:nvPr/>
        </p:nvSpPr>
        <p:spPr>
          <a:xfrm rot="5400000">
            <a:off x="3860900" y="3165955"/>
            <a:ext cx="635447" cy="878762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B87F5059-9860-EA36-A9B1-95FA04732671}"/>
              </a:ext>
            </a:extLst>
          </p:cNvPr>
          <p:cNvSpPr/>
          <p:nvPr/>
        </p:nvSpPr>
        <p:spPr>
          <a:xfrm rot="5400000">
            <a:off x="7996488" y="3165956"/>
            <a:ext cx="635447" cy="878762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677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FD9B-8DEC-A97A-42C7-C8839332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C41F7CC-E714-9D18-0A51-655C1839C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1FAEDA9-BDD6-2056-F724-647AF2CCA01C}"/>
              </a:ext>
            </a:extLst>
          </p:cNvPr>
          <p:cNvSpPr txBox="1"/>
          <p:nvPr/>
        </p:nvSpPr>
        <p:spPr>
          <a:xfrm>
            <a:off x="329938" y="315028"/>
            <a:ext cx="4176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&amp; Comparison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B8E32C3-1538-7DA3-B4BA-5104D1B1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863" y="2464966"/>
            <a:ext cx="4239217" cy="2419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DF2C292-1536-FB3E-1D2B-82A13351CF2D}"/>
              </a:ext>
            </a:extLst>
          </p:cNvPr>
          <p:cNvSpPr txBox="1"/>
          <p:nvPr/>
        </p:nvSpPr>
        <p:spPr>
          <a:xfrm>
            <a:off x="329938" y="1213657"/>
            <a:ext cx="42603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Unbalanced 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sampling for train-test split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 training set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DC8C7F-7963-F845-2B8D-15360896F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38" y="5444818"/>
            <a:ext cx="11374437" cy="9716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98B8EA4-64EC-A1A6-A5C7-F7B896080D28}"/>
              </a:ext>
            </a:extLst>
          </p:cNvPr>
          <p:cNvSpPr/>
          <p:nvPr/>
        </p:nvSpPr>
        <p:spPr>
          <a:xfrm>
            <a:off x="6931863" y="5444816"/>
            <a:ext cx="4772512" cy="9716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E1EEE3-1B76-E978-0052-3463FE32232E}"/>
              </a:ext>
            </a:extLst>
          </p:cNvPr>
          <p:cNvSpPr/>
          <p:nvPr/>
        </p:nvSpPr>
        <p:spPr>
          <a:xfrm>
            <a:off x="1028700" y="5444815"/>
            <a:ext cx="4988456" cy="9716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62924-4C17-A7A7-54AB-7565A0CA2042}"/>
              </a:ext>
            </a:extLst>
          </p:cNvPr>
          <p:cNvSpPr/>
          <p:nvPr/>
        </p:nvSpPr>
        <p:spPr>
          <a:xfrm>
            <a:off x="6017156" y="5444814"/>
            <a:ext cx="914707" cy="97168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AA6A34B-B9D1-D0E7-6466-85F1F47DC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01205"/>
              </p:ext>
            </p:extLst>
          </p:nvPr>
        </p:nvGraphicFramePr>
        <p:xfrm>
          <a:off x="329937" y="2512396"/>
          <a:ext cx="6109363" cy="2372258"/>
        </p:xfrm>
        <a:graphic>
          <a:graphicData uri="http://schemas.openxmlformats.org/drawingml/2006/table">
            <a:tbl>
              <a:tblPr/>
              <a:tblGrid>
                <a:gridCol w="2809222">
                  <a:extLst>
                    <a:ext uri="{9D8B030D-6E8A-4147-A177-3AD203B41FA5}">
                      <a16:colId xmlns:a16="http://schemas.microsoft.com/office/drawing/2014/main" val="1672059259"/>
                    </a:ext>
                  </a:extLst>
                </a:gridCol>
                <a:gridCol w="3300141">
                  <a:extLst>
                    <a:ext uri="{9D8B030D-6E8A-4147-A177-3AD203B41FA5}">
                      <a16:colId xmlns:a16="http://schemas.microsoft.com/office/drawing/2014/main" val="1956688707"/>
                    </a:ext>
                  </a:extLst>
                </a:gridCol>
              </a:tblGrid>
              <a:tr h="431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238558"/>
                  </a:ext>
                </a:extLst>
              </a:tr>
              <a:tr h="75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 (XGB / GBDT / </a:t>
                      </a:r>
                      <a:r>
                        <a:rPr lang="en-US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AdaBoost)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</a:t>
                      </a:r>
                      <a:r>
                        <a:rPr lang="fr-FR" dirty="0" err="1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fr-FR" dirty="0">
                        <a:ln>
                          <a:noFill/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965309"/>
                  </a:ext>
                </a:extLst>
              </a:tr>
              <a:tr h="75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(LR / SVM / NB / RF)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532991"/>
                  </a:ext>
                </a:extLst>
              </a:tr>
              <a:tr h="431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Tree (Decision Tree)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547363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141F0A7-5A56-0D7F-D914-C4BB9D7BD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072" y="475243"/>
            <a:ext cx="5430008" cy="1648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559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CB59-2074-8BAF-0593-5FC5ED27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EF61EE-8D22-6911-0FDB-ED56B03B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AEE00B9-AB5A-68D6-82D9-1F34EE31A6EE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fr-FR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79DB3D-390C-AD3A-63B1-8014C24BA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096" y="587829"/>
            <a:ext cx="3951219" cy="2603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77D8F2-191A-A85F-AFE1-CAEAEDD6D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38" y="3404619"/>
            <a:ext cx="5366656" cy="32904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925E7E-3066-2311-5F18-FA388E4B0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658" y="3429000"/>
            <a:ext cx="5366657" cy="3187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5E829E2-F8FD-12F4-B8DC-F7EAD83D0B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720" y="315028"/>
            <a:ext cx="3072024" cy="2876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E4B8FF0-F126-A359-6B20-6291D7A58D55}"/>
              </a:ext>
            </a:extLst>
          </p:cNvPr>
          <p:cNvSpPr txBox="1"/>
          <p:nvPr/>
        </p:nvSpPr>
        <p:spPr>
          <a:xfrm>
            <a:off x="329938" y="1110281"/>
            <a:ext cx="37494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Bayes (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probability-based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 (non-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ranking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33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1F0-0E9F-BE06-BA99-FBEC0C92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A4185C-D4FD-81D5-B479-2A0D2E6C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A849CD-52E9-C12C-2EB7-83A42AF8C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273" y="772290"/>
            <a:ext cx="3674143" cy="22360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74C03E5-7D81-67A3-C644-C8C43C88D217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(Clustering)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912787A-3C92-B04C-8AA1-6991E98FB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285" y="13283"/>
            <a:ext cx="3674143" cy="28714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2C2840-6641-4B10-C2C5-50A3177E8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54" y="3913819"/>
            <a:ext cx="4265845" cy="5816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8E87D1-EEB0-20B9-4201-9A2731553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114" y="3134783"/>
            <a:ext cx="5576314" cy="34930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B1DA52-3F58-3253-1545-2D1048F50A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754" y="4742728"/>
            <a:ext cx="5076831" cy="18850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B62FFDC-DBC1-139D-47C4-8B5BAF172C3C}"/>
              </a:ext>
            </a:extLst>
          </p:cNvPr>
          <p:cNvSpPr txBox="1"/>
          <p:nvPr/>
        </p:nvSpPr>
        <p:spPr>
          <a:xfrm>
            <a:off x="534754" y="1610538"/>
            <a:ext cx="4261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(K=5)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 for visualization: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(3D)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C51-E969-96C4-8B0B-2250E5E2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9BE0F35-9FDB-F321-1F79-2686AA77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77DD5A0-E148-5247-D1BF-5DD008BA4D63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(Clustering)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8A17F4-D9E3-FFF5-A6C1-6342883B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489" y="191007"/>
            <a:ext cx="6132511" cy="47075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1C4F7F7-9BE0-4EFC-37FA-C885D77A6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021" y="3946856"/>
            <a:ext cx="3975148" cy="2720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9084F8B-1F97-FA1A-0DE1-E0419E30B48D}"/>
              </a:ext>
            </a:extLst>
          </p:cNvPr>
          <p:cNvSpPr txBox="1"/>
          <p:nvPr/>
        </p:nvSpPr>
        <p:spPr>
          <a:xfrm>
            <a:off x="656510" y="1166842"/>
            <a:ext cx="475731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Profiles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customers/ New Users (Cluster 3 /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tenure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≈ 0.40–0.49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Medium-risk customers (Cluster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tenure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churn ≈ 0.24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Low-risk customers (Cluster 2 /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tenure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≈ 0.04–0.07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A4B955-5896-26F4-2292-6B06A4B175B6}"/>
              </a:ext>
            </a:extLst>
          </p:cNvPr>
          <p:cNvSpPr/>
          <p:nvPr/>
        </p:nvSpPr>
        <p:spPr>
          <a:xfrm>
            <a:off x="9917724" y="344056"/>
            <a:ext cx="294144" cy="3504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1FD1FA-6011-0AA3-2FA1-52BA1341DB72}"/>
              </a:ext>
            </a:extLst>
          </p:cNvPr>
          <p:cNvSpPr/>
          <p:nvPr/>
        </p:nvSpPr>
        <p:spPr>
          <a:xfrm>
            <a:off x="7146894" y="341817"/>
            <a:ext cx="294143" cy="3156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A36662-6473-F3BF-FB25-9B8C017DF726}"/>
              </a:ext>
            </a:extLst>
          </p:cNvPr>
          <p:cNvSpPr/>
          <p:nvPr/>
        </p:nvSpPr>
        <p:spPr>
          <a:xfrm>
            <a:off x="9418959" y="344057"/>
            <a:ext cx="294143" cy="315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801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09AE-D71A-5759-CD12-E5D5F741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D16E87E-DD07-C4D8-BB95-63BCA8A6C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33F24F4-865E-5A63-1B93-7E2A12AAD937}"/>
              </a:ext>
            </a:extLst>
          </p:cNvPr>
          <p:cNvSpPr txBox="1"/>
          <p:nvPr/>
        </p:nvSpPr>
        <p:spPr>
          <a:xfrm>
            <a:off x="329938" y="31502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 &amp; Strategy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E2E2DA-1EA5-7FF7-FCAC-1FADFC678B82}"/>
              </a:ext>
            </a:extLst>
          </p:cNvPr>
          <p:cNvSpPr txBox="1"/>
          <p:nvPr/>
        </p:nvSpPr>
        <p:spPr>
          <a:xfrm>
            <a:off x="329938" y="1417881"/>
            <a:ext cx="57660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layers of drivers are identified: </a:t>
            </a:r>
          </a:p>
          <a:p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tenure → high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pressure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OnlineBackup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PaperlessBilling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Contextual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StreamingTV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MultipleLines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1C64F6-F1DB-238D-93D6-67CAF4D0639C}"/>
              </a:ext>
            </a:extLst>
          </p:cNvPr>
          <p:cNvSpPr txBox="1"/>
          <p:nvPr/>
        </p:nvSpPr>
        <p:spPr>
          <a:xfrm>
            <a:off x="6059488" y="1417881"/>
            <a:ext cx="58025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segment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upgrade (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incentives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/ bundle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-warning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intervention </a:t>
            </a:r>
          </a:p>
          <a:p>
            <a:pPr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value-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(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Security)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activation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campaigns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</a:t>
            </a:r>
            <a:r>
              <a:rPr lang="fr-FR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</a:t>
            </a:r>
            <a:endParaRPr lang="zh-CN" alt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Loyalty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upsell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plans</a:t>
            </a:r>
          </a:p>
        </p:txBody>
      </p:sp>
    </p:spTree>
    <p:extLst>
      <p:ext uri="{BB962C8B-B14F-4D97-AF65-F5344CB8AC3E}">
        <p14:creationId xmlns:p14="http://schemas.microsoft.com/office/powerpoint/2010/main" val="142163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5B3B-D353-1FA6-A97E-269D8FC5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F0B1B9-A525-99BC-69E6-07647770F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38CC77B-64C6-2C61-9174-458406907A69}"/>
              </a:ext>
            </a:extLst>
          </p:cNvPr>
          <p:cNvSpPr txBox="1"/>
          <p:nvPr/>
        </p:nvSpPr>
        <p:spPr>
          <a:xfrm>
            <a:off x="8507542" y="1874728"/>
            <a:ext cx="2846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C68DC3-DED2-E8DC-EC17-41EA5BB1E79D}"/>
              </a:ext>
            </a:extLst>
          </p:cNvPr>
          <p:cNvSpPr txBox="1"/>
          <p:nvPr/>
        </p:nvSpPr>
        <p:spPr>
          <a:xfrm>
            <a:off x="329940" y="843677"/>
            <a:ext cx="56064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ensemble methods (Stacking / Voting) to improve predictive performance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Enhancement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SHAP to improve feature-level interpretability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stability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 Extension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time-based features to capture customer behavior dynamics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54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A7303-B4B2-16E4-9F87-BC41DC73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469409-1461-CA5C-4CF5-CE3F98AC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8BC69D-6EC0-6550-E62C-9AE4F3C82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488" y="2379663"/>
            <a:ext cx="9144000" cy="2387600"/>
          </a:xfrm>
        </p:spPr>
        <p:txBody>
          <a:bodyPr/>
          <a:lstStyle/>
          <a:p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88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16859</TotalTime>
  <Words>1740</Words>
  <Application>Microsoft Office PowerPoint</Application>
  <PresentationFormat>宽屏</PresentationFormat>
  <Paragraphs>313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Times New Roman</vt:lpstr>
      <vt:lpstr>Office 主题​​</vt:lpstr>
      <vt:lpstr>Telco Customer Churn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世杰 胡</dc:creator>
  <cp:lastModifiedBy>世杰 胡</cp:lastModifiedBy>
  <cp:revision>310</cp:revision>
  <dcterms:created xsi:type="dcterms:W3CDTF">2026-05-04T12:59:52Z</dcterms:created>
  <dcterms:modified xsi:type="dcterms:W3CDTF">2026-06-07T07:26:19Z</dcterms:modified>
</cp:coreProperties>
</file>